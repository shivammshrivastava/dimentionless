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7772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</a:rPr>
              <a:t>[TO FILL: Team Name]</a:t>
            </a:r>
          </a:p>
        </p:txBody>
      </p:sp>
      <p:sp>
        <p:nvSpPr>
          <p:cNvPr id="3" name="Oval 2"/>
          <p:cNvSpPr/>
          <p:nvPr/>
        </p:nvSpPr>
        <p:spPr>
          <a:xfrm>
            <a:off x="7315200" y="914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274320"/>
            <a:ext cx="228600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914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5CA8"/>
                </a:solidFill>
              </a:rPr>
              <a:t>SMART INDIA
HACKATHON
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CA8"/>
                </a:solidFill>
              </a:rPr>
              <a:t>IDEA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5CA8"/>
                </a:solidFill>
              </a:rPr>
              <a:t>Adaptive Variable-Resolution 2.5D Lidar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33333"/>
                </a:solidFill>
              </a:rPr>
              <a:t>Foveated 2.5D maps from raw Lidar sweeps -- high resolution near the sensor, memory-efficient everywhere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548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3333"/>
                </a:solidFill>
              </a:rPr>
              <a:t>Team: [TO FILL: Team Name]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9144000" cy="320040"/>
          </a:xfrm>
          <a:prstGeom prst="rect">
            <a:avLst/>
          </a:prstGeom>
          <a:solidFill>
            <a:srgbClr val="24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7772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</a:rPr>
              <a:t>[TO FILL: Team Name]</a:t>
            </a:r>
          </a:p>
        </p:txBody>
      </p:sp>
      <p:sp>
        <p:nvSpPr>
          <p:cNvPr id="3" name="Oval 2"/>
          <p:cNvSpPr/>
          <p:nvPr/>
        </p:nvSpPr>
        <p:spPr>
          <a:xfrm>
            <a:off x="7315200" y="914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274320"/>
            <a:ext cx="228600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914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5CA8"/>
                </a:solidFill>
              </a:rPr>
              <a:t>SMART INDIA
HACKATHON
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CA8"/>
                </a:solidFill>
              </a:rPr>
              <a:t>IDEA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1" u="sng">
                <a:solidFill>
                  <a:srgbClr val="1A5CA8"/>
                </a:solidFill>
              </a:rPr>
              <a:t>❖ 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Adaptive Variable-Resolution 2.5D Lidar Mapping: Turns raw nuScenes Lidar sweeps into a foveated 2.5D map with cells as fine as 5 cm near the sensor, growing to 50 cm at 100 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Each cell stores elevation, semantic class (drivable, non-drivable terrain, static obstacle, dynamic object) and a confidence value.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Deep-learning pipeline: Range-image projection -&gt; 4.6M-parameter U-Net (SalsaNext-lite) -&gt; semantic segmentation -&gt; variable-resolution ring grid.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Interactive dashboard: Live top-down canvas, 3D elevation columns, and uniform-vs-adaptive comparison view.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Addresses the problem of memory-efficient perception for autonomous driving: ~30x less memory than uniform 5 cm 2D grid, ~450x less than 3D voxels.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Innovation: Foveated approach concentrates resolution where it matters most (near the vehicle), mimicking how human vision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9144000" cy="320040"/>
          </a:xfrm>
          <a:prstGeom prst="rect">
            <a:avLst/>
          </a:prstGeom>
          <a:solidFill>
            <a:srgbClr val="24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7772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</a:rPr>
              <a:t>[TO FILL: Team Name]</a:t>
            </a:r>
          </a:p>
        </p:txBody>
      </p:sp>
      <p:sp>
        <p:nvSpPr>
          <p:cNvPr id="3" name="Oval 2"/>
          <p:cNvSpPr/>
          <p:nvPr/>
        </p:nvSpPr>
        <p:spPr>
          <a:xfrm>
            <a:off x="7315200" y="914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274320"/>
            <a:ext cx="228600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914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5CA8"/>
                </a:solidFill>
              </a:rPr>
              <a:t>SMART INDIA
HACKATHON
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CA8"/>
                </a:solidFill>
              </a:rPr>
              <a:t>TECHNICAL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14400"/>
            <a:ext cx="4114800" cy="13716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5CA8"/>
                </a:solidFill>
              </a:rPr>
              <a:t>Tech Stack</a:t>
            </a:r>
          </a:p>
          <a:p>
            <a:r>
              <a:rPr sz="1000">
                <a:solidFill>
                  <a:srgbClr val="333333"/>
                </a:solidFill>
              </a:rPr>
              <a:t>Backend: Python 3.11+, PyTorch, FastAPI, Uvicorn, WebSockets, msgpack, NumPy, SciPy</a:t>
            </a:r>
          </a:p>
          <a:p>
            <a:r>
              <a:rPr sz="1000">
                <a:solidFill>
                  <a:srgbClr val="333333"/>
                </a:solidFill>
              </a:rPr>
              <a:t>Frontend: Vite, React 18, TypeScript, three.js, framer-motion, msgpackr, pako</a:t>
            </a:r>
          </a:p>
          <a:p>
            <a:r>
              <a:rPr sz="1000">
                <a:solidFill>
                  <a:srgbClr val="333333"/>
                </a:solidFill>
              </a:rPr>
              <a:t>Testing: pytest (backend), vitest (frontend)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468880"/>
            <a:ext cx="4114800" cy="14630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5CA8"/>
                </a:solidFill>
              </a:rPr>
              <a:t>Methodology</a:t>
            </a:r>
          </a:p>
          <a:p>
            <a:r>
              <a:rPr sz="1000">
                <a:solidFill>
                  <a:srgbClr val="333333"/>
                </a:solidFill>
              </a:rPr>
              <a:t>1. Range-image projection of raw Lidar sweeps</a:t>
            </a:r>
          </a:p>
          <a:p>
            <a:r>
              <a:rPr sz="1000">
                <a:solidFill>
                  <a:srgbClr val="333333"/>
                </a:solidFill>
              </a:rPr>
              <a:t>2. SalsaNext-lite U-Net (4.6M params) -&gt; semantic labels</a:t>
            </a:r>
          </a:p>
          <a:p>
            <a:r>
              <a:rPr sz="1000">
                <a:solidFill>
                  <a:srgbClr val="333333"/>
                </a:solidFill>
              </a:rPr>
              <a:t>3. Weighted cross-entropy + Lovasz loss training</a:t>
            </a:r>
          </a:p>
          <a:p>
            <a:r>
              <a:rPr sz="1000">
                <a:solidFill>
                  <a:srgbClr val="333333"/>
                </a:solidFill>
              </a:rPr>
              <a:t>4. Variable-resolution ring grid (VarResGrid) binning</a:t>
            </a:r>
          </a:p>
          <a:p>
            <a:r>
              <a:rPr sz="1000">
                <a:solidFill>
                  <a:srgbClr val="333333"/>
                </a:solidFill>
              </a:rPr>
              <a:t>5. FastAPI serves sparse msgpack frames (~245 KB each)</a:t>
            </a:r>
          </a:p>
          <a:p>
            <a:r>
              <a:rPr sz="1000">
                <a:solidFill>
                  <a:srgbClr val="333333"/>
                </a:solidFill>
              </a:rPr>
              <a:t>6. WebSocket /ws/stream pushes frames to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A5CA8"/>
                </a:solidFill>
              </a:rPr>
              <a:t>Backend -&gt; Frontend Data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32004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nuScenes Lidar Sweeps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492240" y="1828800"/>
            <a:ext cx="27432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965960"/>
            <a:ext cx="3200400" cy="457200"/>
          </a:xfrm>
          <a:prstGeom prst="round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Range Projection + U-Net Inference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492240" y="2423160"/>
            <a:ext cx="27432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2560320"/>
            <a:ext cx="3200400" cy="457200"/>
          </a:xfrm>
          <a:prstGeom prst="round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VarResGrid (Foveated Binning)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492240" y="3017520"/>
            <a:ext cx="27432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3154680"/>
            <a:ext cx="3200400" cy="457200"/>
          </a:xfrm>
          <a:prstGeom prst="round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Sparse msgpack Encoding + LRU Cache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492240" y="3611880"/>
            <a:ext cx="27432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3749040"/>
            <a:ext cx="3200400" cy="457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FastAPI / WebSocket /ws/stream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492240" y="4206240"/>
            <a:ext cx="27432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4343400"/>
            <a:ext cx="32004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React Dashboard (Decode -&gt; Densify -&gt; Render)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Demo mode: If backend unreachable, dashboard replays exported frames from /mock; re-probes every 15 s and auto-upgrades to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REST: /api/health, /api/scenes, /api/classes, /api/scenes/{scene}/frames/{idx}, /api/metrics</a:t>
            </a:r>
          </a:p>
          <a:p>
            <a:r>
              <a:rPr sz="1000">
                <a:solidFill>
                  <a:srgbClr val="333333"/>
                </a:solidFill>
              </a:rPr>
              <a:t>WS: /ws/stream -- client sends play, pause, seek, fps, scene commands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9144000" cy="320040"/>
          </a:xfrm>
          <a:prstGeom prst="rect">
            <a:avLst/>
          </a:prstGeom>
          <a:solidFill>
            <a:srgbClr val="24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@SIH Idea submission-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7772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</a:rPr>
              <a:t>[TO FILL: Team Name]</a:t>
            </a:r>
          </a:p>
        </p:txBody>
      </p:sp>
      <p:sp>
        <p:nvSpPr>
          <p:cNvPr id="3" name="Oval 2"/>
          <p:cNvSpPr/>
          <p:nvPr/>
        </p:nvSpPr>
        <p:spPr>
          <a:xfrm>
            <a:off x="7315200" y="914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274320"/>
            <a:ext cx="228600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914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5CA8"/>
                </a:solidFill>
              </a:rPr>
              <a:t>SMART INDIA
HACKATHON
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CA8"/>
                </a:solidFill>
              </a:rP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Technical Feasibility: Built on proven open-source stack (PyTorch, FastAPI, React, three.js). Model is a compact 4.6M-parameter U-Net trainable on consumer GPUs.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Data: Uses nuScenes-mini with lidarseg labels; reads metadata JSON directly without the devkit -- lightweight data dependency.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Performance Achieved: mIoU 0.747, ~24 FPS (41 ms median latency) on mini_val.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Memory Efficiency: ~30x less memory than uniform 5 cm 2D grid, ~450x less than 3D voxels -- viable for edge deployment.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Real-time Streaming: WebSocket pushes sparse msgpack frames (~245 KB each); LRU cache (512 entries) avoids redundant GPU inference.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Graceful Degradation: Demo mode with mock frames ensures the dashboard works even without a live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CA8"/>
                </a:solidFill>
              </a:rPr>
              <a:t>Potential Challenges &amp; 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[TO FILL: Potential challenges and risks not specified in PROJECT_OVERVIEW.md]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[TO FILL: Strategies for overcoming these challenges]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9144000" cy="320040"/>
          </a:xfrm>
          <a:prstGeom prst="rect">
            <a:avLst/>
          </a:prstGeom>
          <a:solidFill>
            <a:srgbClr val="24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7772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</a:rPr>
              <a:t>[TO FILL: Team Name]</a:t>
            </a:r>
          </a:p>
        </p:txBody>
      </p:sp>
      <p:sp>
        <p:nvSpPr>
          <p:cNvPr id="3" name="Oval 2"/>
          <p:cNvSpPr/>
          <p:nvPr/>
        </p:nvSpPr>
        <p:spPr>
          <a:xfrm>
            <a:off x="7315200" y="914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274320"/>
            <a:ext cx="228600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914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5CA8"/>
                </a:solidFill>
              </a:rPr>
              <a:t>SMART INDIA
HACKATHON
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CA8"/>
                </a:solidFill>
              </a:rP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Target Audience: Autonomous-driving and perception engineers, and reviewers evaluating results.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~30x memory reduction vs uniform 5 cm grid -- enables real-time mapping on resource-constrained platforms.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~450x memory reduction vs 3D voxel grids -- makes dense volumetric perception practical.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Foveated resolution concentrates detail near the vehicle where it matters for navigation and safety.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Real-time dashboard lets users see live maps, class labels, and height data with playback controls.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Uniform-vs-adaptive comparison view demonstrates the efficiency advantage visually.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mIoU 0.747 with ~24 FPS throughput -- balances accuracy and speed for real-world deployment.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[TO FILL: Broader social / economic / environmental impact not specified in PROJECT_OVERVIEW.md]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9144000" cy="320040"/>
          </a:xfrm>
          <a:prstGeom prst="rect">
            <a:avLst/>
          </a:prstGeom>
          <a:solidFill>
            <a:srgbClr val="24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7772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</a:rPr>
              <a:t>[TO FILL: Team Name]</a:t>
            </a:r>
          </a:p>
        </p:txBody>
      </p:sp>
      <p:sp>
        <p:nvSpPr>
          <p:cNvPr id="3" name="Oval 2"/>
          <p:cNvSpPr/>
          <p:nvPr/>
        </p:nvSpPr>
        <p:spPr>
          <a:xfrm>
            <a:off x="7315200" y="914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274320"/>
            <a:ext cx="228600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914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5CA8"/>
                </a:solidFill>
              </a:rPr>
              <a:t>SMART INDIA
HACKATHON
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CA8"/>
                </a:solidFill>
              </a:rP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[TO FILL: Research papers, datasets, and references used in the project]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[TO FILL: Links to relevant prior work on Lidar semantic segmentation]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[TO FILL: Links to nuScenes dataset documentation]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[TO FILL: Links to SalsaNext and related architectures]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[TO FILL: Any other reference material]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9144000" cy="320040"/>
          </a:xfrm>
          <a:prstGeom prst="rect">
            <a:avLst/>
          </a:prstGeom>
          <a:solidFill>
            <a:srgbClr val="24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